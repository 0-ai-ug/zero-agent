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Default Extension="fntdata" ContentType="application/x-fontdata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embeddedFontLst>
    <p:embeddedFont>
      <p:font typeface="DM Sans"/>
      <p:regular r:id="rId20"/>
    </p:embeddedFont>
    <p:embeddedFont>
      <p:font typeface="DM Serif Display"/>
      <p:regular r:id="rId21"/>
      <p:italic r:id="rId22"/>
    </p:embeddedFont>
  </p:embeddedFont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20" Type="http://schemas.openxmlformats.org/officeDocument/2006/relationships/font" Target="fonts/44A2EA41-793C-E65B-21B9-E386AA85DFD1.fntdata"/><Relationship Id="rId21" Type="http://schemas.openxmlformats.org/officeDocument/2006/relationships/font" Target="fonts/94F9F2CA-C803-4A50-9BCC-70B88712D659.fntdata"/><Relationship Id="rId22" Type="http://schemas.openxmlformats.org/officeDocument/2006/relationships/font" Target="fonts/04EC7354-C25B-876D-4725-AA1D946642CB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89778" y="0"/>
            <a:ext cx="3301917" cy="6858000"/>
          </a:xfrm>
          <a:prstGeom prst="rect">
            <a:avLst/>
          </a:prstGeom>
          <a:solidFill>
            <a:srgbClr val="C4501A"/>
          </a:solidFill>
          <a:ln/>
        </p:spPr>
      </p:sp>
      <p:sp>
        <p:nvSpPr>
          <p:cNvPr id="3" name="Shape 1"/>
          <p:cNvSpPr/>
          <p:nvPr/>
        </p:nvSpPr>
        <p:spPr>
          <a:xfrm>
            <a:off x="7873803" y="2159000"/>
            <a:ext cx="2031949" cy="2540000"/>
          </a:xfrm>
          <a:prstGeom prst="rect">
            <a:avLst/>
          </a:prstGeom>
          <a:solidFill>
            <a:srgbClr val="1A1815"/>
          </a:solidFill>
          <a:ln/>
        </p:spPr>
      </p:sp>
      <p:sp>
        <p:nvSpPr>
          <p:cNvPr id="4" name="Text 2"/>
          <p:cNvSpPr/>
          <p:nvPr/>
        </p:nvSpPr>
        <p:spPr>
          <a:xfrm>
            <a:off x="634984" y="406400"/>
            <a:ext cx="809148" cy="2666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1500" spc="0" kern="0" dirty="0">
                <a:solidFill>
                  <a:srgbClr val="1A1815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Meridian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9407786" y="454025"/>
            <a:ext cx="2363818" cy="1777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1000" spc="1" kern="0" dirty="0">
                <a:solidFill>
                  <a:srgbClr val="8A827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STRATEGIC GROWTH ADVISORY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 rot="16200000">
            <a:off x="5668225" y="3200400"/>
            <a:ext cx="3043757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800" spc="1" kern="0" dirty="0">
                <a:solidFill>
                  <a:srgbClr val="B8B2A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CONFIDENTIAL — PREPARED FOR APEX INDUSTRIES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634984" y="1460500"/>
            <a:ext cx="1766724" cy="1137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6400" spc="-2" kern="0" dirty="0">
                <a:solidFill>
                  <a:srgbClr val="1A1815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2026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634984" y="2208213"/>
            <a:ext cx="2830600" cy="1137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6400" spc="-2" kern="0" dirty="0">
                <a:solidFill>
                  <a:srgbClr val="1A1815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Growth</a:t>
            </a:r>
            <a:endParaRPr lang="en-US" sz="6400" dirty="0"/>
          </a:p>
        </p:txBody>
      </p:sp>
      <p:sp>
        <p:nvSpPr>
          <p:cNvPr id="9" name="Text 7"/>
          <p:cNvSpPr/>
          <p:nvPr/>
        </p:nvSpPr>
        <p:spPr>
          <a:xfrm>
            <a:off x="634984" y="2955925"/>
            <a:ext cx="2813684" cy="1137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6400" i="1" spc="-2" kern="0" dirty="0">
                <a:solidFill>
                  <a:srgbClr val="C4501A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Outlook</a:t>
            </a:r>
            <a:endParaRPr lang="en-US" sz="6400" dirty="0"/>
          </a:p>
        </p:txBody>
      </p:sp>
      <p:sp>
        <p:nvSpPr>
          <p:cNvPr id="10" name="Text 8"/>
          <p:cNvSpPr/>
          <p:nvPr/>
        </p:nvSpPr>
        <p:spPr>
          <a:xfrm>
            <a:off x="634984" y="4230688"/>
            <a:ext cx="3555911" cy="12088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8A827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strategic assessment of market opportunity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34984" y="4835128"/>
            <a:ext cx="3555911" cy="12088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8A827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and the path to sustainable, compounding growth.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34984" y="6286500"/>
            <a:ext cx="937713" cy="1777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1000" spc="1" kern="0" dirty="0">
                <a:solidFill>
                  <a:srgbClr val="8A827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MARCH 2026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893840" y="6286500"/>
            <a:ext cx="2429628" cy="1777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1000" spc="1" kern="0" dirty="0">
                <a:solidFill>
                  <a:srgbClr val="8A827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PREPARED BY MERIDIAN PARTNERS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08983" y="6286500"/>
            <a:ext cx="1045759" cy="1777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1000" spc="1" kern="0" dirty="0">
                <a:solidFill>
                  <a:srgbClr val="8A827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CONFIDENTIAL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8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99083" y="889000"/>
            <a:ext cx="6350" cy="5080000"/>
          </a:xfrm>
          <a:prstGeom prst="rect">
            <a:avLst/>
          </a:prstGeom>
          <a:solidFill>
            <a:srgbClr val="F4F1EB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213420" y="4794845"/>
            <a:ext cx="406390" cy="19050"/>
          </a:xfrm>
          <a:prstGeom prst="rect">
            <a:avLst/>
          </a:prstGeom>
          <a:solidFill>
            <a:srgbClr val="C4501A"/>
          </a:solidFill>
          <a:ln/>
        </p:spPr>
      </p:sp>
      <p:sp>
        <p:nvSpPr>
          <p:cNvPr id="4" name="Text 2"/>
          <p:cNvSpPr/>
          <p:nvPr/>
        </p:nvSpPr>
        <p:spPr>
          <a:xfrm>
            <a:off x="634984" y="2022475"/>
            <a:ext cx="1446077" cy="19557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11000" spc="-5" kern="0" dirty="0">
                <a:solidFill>
                  <a:srgbClr val="C4501A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73</a:t>
            </a:r>
            <a:endParaRPr lang="en-US" sz="11000" dirty="0"/>
          </a:p>
        </p:txBody>
      </p:sp>
      <p:sp>
        <p:nvSpPr>
          <p:cNvPr id="5" name="Text 3"/>
          <p:cNvSpPr/>
          <p:nvPr/>
        </p:nvSpPr>
        <p:spPr>
          <a:xfrm>
            <a:off x="2000398" y="2682875"/>
            <a:ext cx="668688" cy="10667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6000" spc="-5" kern="0" dirty="0">
                <a:solidFill>
                  <a:srgbClr val="E8824A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%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634984" y="3800475"/>
            <a:ext cx="3354899" cy="3200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4F1E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of B2B companies will miss their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34984" y="4143375"/>
            <a:ext cx="2507880" cy="3200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4F1E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growth targets this year.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213420" y="2044105"/>
            <a:ext cx="1387797" cy="160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900" spc="1" kern="0" dirty="0">
                <a:solidFill>
                  <a:srgbClr val="C4501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OPPORTUNITY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213420" y="2418755"/>
            <a:ext cx="4343291" cy="7848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spc="0" kern="0" dirty="0">
                <a:solidFill>
                  <a:srgbClr val="F4F1EB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The gap between ambition and execution is widening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7213420" y="3416895"/>
            <a:ext cx="4343291" cy="1155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4F1EB">
                    <a:alpha val="60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Most growth strategies fail not because of bad ideas, but because of fragmented execution. Market conditions demand a new operating model — one built on precision, speed, and compounding advantage.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DFC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0575" y="3708400"/>
            <a:ext cx="253994" cy="19050"/>
          </a:xfrm>
          <a:prstGeom prst="rect">
            <a:avLst/>
          </a:prstGeom>
          <a:solidFill>
            <a:srgbClr val="C4501A"/>
          </a:solidFill>
          <a:ln/>
        </p:spPr>
      </p:sp>
      <p:sp>
        <p:nvSpPr>
          <p:cNvPr id="3" name="Shape 1"/>
          <p:cNvSpPr/>
          <p:nvPr/>
        </p:nvSpPr>
        <p:spPr>
          <a:xfrm>
            <a:off x="4633201" y="3708400"/>
            <a:ext cx="253994" cy="19050"/>
          </a:xfrm>
          <a:prstGeom prst="rect">
            <a:avLst/>
          </a:prstGeom>
          <a:solidFill>
            <a:srgbClr val="C4501A"/>
          </a:solidFill>
          <a:ln/>
        </p:spPr>
      </p:sp>
      <p:sp>
        <p:nvSpPr>
          <p:cNvPr id="4" name="Shape 2"/>
          <p:cNvSpPr/>
          <p:nvPr/>
        </p:nvSpPr>
        <p:spPr>
          <a:xfrm>
            <a:off x="8275927" y="3708400"/>
            <a:ext cx="253994" cy="19050"/>
          </a:xfrm>
          <a:prstGeom prst="rect">
            <a:avLst/>
          </a:prstGeom>
          <a:solidFill>
            <a:srgbClr val="C4501A"/>
          </a:solidFill>
          <a:ln/>
        </p:spPr>
      </p:sp>
      <p:sp>
        <p:nvSpPr>
          <p:cNvPr id="5" name="Text 3"/>
          <p:cNvSpPr/>
          <p:nvPr/>
        </p:nvSpPr>
        <p:spPr>
          <a:xfrm>
            <a:off x="634984" y="508000"/>
            <a:ext cx="1176288" cy="160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900" spc="1" kern="0" dirty="0">
                <a:solidFill>
                  <a:srgbClr val="C4501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OUR APPROACH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34984" y="762000"/>
            <a:ext cx="2884733" cy="568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3200" spc="-1" kern="0" dirty="0">
                <a:solidFill>
                  <a:srgbClr val="1A1815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Three pillars of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634984" y="1314450"/>
            <a:ext cx="4113189" cy="568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3200" spc="-1" kern="0" dirty="0">
                <a:solidFill>
                  <a:srgbClr val="1A1815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compounding growth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990575" y="2095500"/>
            <a:ext cx="571337" cy="853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4800" dirty="0">
                <a:solidFill>
                  <a:srgbClr val="1A1815">
                    <a:alpha val="7000"/>
                  </a:srgbClr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01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990575" y="2952750"/>
            <a:ext cx="1086904" cy="355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2000" spc="0" kern="0" dirty="0">
                <a:solidFill>
                  <a:srgbClr val="1A1815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Strategic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990575" y="3257550"/>
            <a:ext cx="1353965" cy="355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2000" spc="0" kern="0" dirty="0">
                <a:solidFill>
                  <a:srgbClr val="1A1815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Positioning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990575" y="3905250"/>
            <a:ext cx="2793930" cy="10362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A827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We identify the intersection of market demand and your unfair advantages — then build a narrative that compounds over time.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90575" y="5880100"/>
            <a:ext cx="2121313" cy="1777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1000" spc="1" kern="0" dirty="0">
                <a:solidFill>
                  <a:srgbClr val="C4501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MARKET · BRAND · NARRATIVE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633201" y="2095500"/>
            <a:ext cx="693353" cy="853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4800" dirty="0">
                <a:solidFill>
                  <a:srgbClr val="1A1815">
                    <a:alpha val="7000"/>
                  </a:srgbClr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02</a:t>
            </a:r>
            <a:endParaRPr lang="en-US" sz="4800" dirty="0"/>
          </a:p>
        </p:txBody>
      </p:sp>
      <p:sp>
        <p:nvSpPr>
          <p:cNvPr id="14" name="Text 12"/>
          <p:cNvSpPr/>
          <p:nvPr/>
        </p:nvSpPr>
        <p:spPr>
          <a:xfrm>
            <a:off x="4633201" y="2952750"/>
            <a:ext cx="1033536" cy="355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2000" spc="0" kern="0" dirty="0">
                <a:solidFill>
                  <a:srgbClr val="1A1815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Revenue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633201" y="3257550"/>
            <a:ext cx="1535352" cy="355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2000" spc="0" kern="0" dirty="0">
                <a:solidFill>
                  <a:srgbClr val="1A1815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Architecture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4633201" y="3905250"/>
            <a:ext cx="2793930" cy="10362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A827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We redesign your pipeline from first touch to closed deal. Every stage measured, every handoff optimized, every dollar tracked.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633201" y="5880100"/>
            <a:ext cx="1829588" cy="1777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1000" spc="1" kern="0" dirty="0">
                <a:solidFill>
                  <a:srgbClr val="C4501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PIPELINE · PROCESS · OPS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275927" y="2095500"/>
            <a:ext cx="693353" cy="853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4800" dirty="0">
                <a:solidFill>
                  <a:srgbClr val="1A1815">
                    <a:alpha val="7000"/>
                  </a:srgbClr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03</a:t>
            </a:r>
            <a:endParaRPr lang="en-US" sz="4800" dirty="0"/>
          </a:p>
        </p:txBody>
      </p:sp>
      <p:sp>
        <p:nvSpPr>
          <p:cNvPr id="19" name="Text 17"/>
          <p:cNvSpPr/>
          <p:nvPr/>
        </p:nvSpPr>
        <p:spPr>
          <a:xfrm>
            <a:off x="8275927" y="2952750"/>
            <a:ext cx="1212304" cy="355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2000" spc="0" kern="0" dirty="0">
                <a:solidFill>
                  <a:srgbClr val="1A1815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Execution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8275927" y="3257550"/>
            <a:ext cx="967835" cy="355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2000" spc="0" kern="0" dirty="0">
                <a:solidFill>
                  <a:srgbClr val="1A1815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Velocity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8275927" y="3905250"/>
            <a:ext cx="2793930" cy="10362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A827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Strategy without speed is just a deck. We embed with your team to ship faster, test more, and build momentum that compounds.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275927" y="5880100"/>
            <a:ext cx="1772399" cy="1777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1000" spc="1" kern="0" dirty="0">
                <a:solidFill>
                  <a:srgbClr val="C4501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SPEED · TESTING · SCALE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8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223000"/>
            <a:ext cx="4267093" cy="635000"/>
          </a:xfrm>
          <a:prstGeom prst="rect">
            <a:avLst/>
          </a:prstGeom>
          <a:solidFill>
            <a:srgbClr val="C4501A"/>
          </a:solidFill>
          <a:ln/>
        </p:spPr>
      </p:sp>
      <p:sp>
        <p:nvSpPr>
          <p:cNvPr id="3" name="Shape 1"/>
          <p:cNvSpPr/>
          <p:nvPr/>
        </p:nvSpPr>
        <p:spPr>
          <a:xfrm>
            <a:off x="4267093" y="6223000"/>
            <a:ext cx="3047924" cy="635000"/>
          </a:xfrm>
          <a:prstGeom prst="rect">
            <a:avLst/>
          </a:prstGeom>
          <a:solidFill>
            <a:srgbClr val="E8824A"/>
          </a:solidFill>
          <a:ln/>
        </p:spPr>
      </p:sp>
      <p:sp>
        <p:nvSpPr>
          <p:cNvPr id="4" name="Shape 2"/>
          <p:cNvSpPr/>
          <p:nvPr/>
        </p:nvSpPr>
        <p:spPr>
          <a:xfrm>
            <a:off x="7315017" y="6223000"/>
            <a:ext cx="4876678" cy="635000"/>
          </a:xfrm>
          <a:prstGeom prst="rect">
            <a:avLst/>
          </a:prstGeom>
          <a:solidFill>
            <a:srgbClr val="F4F1EB">
              <a:alpha val="6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8050507" y="0"/>
            <a:ext cx="4834700" cy="42670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23999" spc="-10" kern="0" dirty="0">
                <a:solidFill>
                  <a:srgbClr val="F4F1EB">
                    <a:alpha val="2000"/>
                  </a:srgbClr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ROI</a:t>
            </a:r>
            <a:endParaRPr lang="en-US" sz="23999" dirty="0"/>
          </a:p>
        </p:txBody>
      </p:sp>
      <p:sp>
        <p:nvSpPr>
          <p:cNvPr id="6" name="Text 4"/>
          <p:cNvSpPr/>
          <p:nvPr/>
        </p:nvSpPr>
        <p:spPr>
          <a:xfrm>
            <a:off x="634984" y="508000"/>
            <a:ext cx="1289028" cy="160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900" spc="1" kern="0" dirty="0">
                <a:solidFill>
                  <a:srgbClr val="C4501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PROVEN RESULTS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34984" y="762000"/>
            <a:ext cx="4061785" cy="497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2800" spc="-1" kern="0" dirty="0">
                <a:solidFill>
                  <a:srgbClr val="F4F1EB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What our clients achieve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634984" y="1600200"/>
            <a:ext cx="3169037" cy="23113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13000" spc="-5" kern="0" dirty="0">
                <a:solidFill>
                  <a:srgbClr val="C4501A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3.2×</a:t>
            </a:r>
            <a:endParaRPr lang="en-US" sz="13000" dirty="0"/>
          </a:p>
        </p:txBody>
      </p:sp>
      <p:sp>
        <p:nvSpPr>
          <p:cNvPr id="9" name="Text 7"/>
          <p:cNvSpPr/>
          <p:nvPr/>
        </p:nvSpPr>
        <p:spPr>
          <a:xfrm>
            <a:off x="685783" y="3536950"/>
            <a:ext cx="3762420" cy="2666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4F1EB">
                    <a:alpha val="50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Average pipeline growth within 12 months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0546392" y="2057400"/>
            <a:ext cx="1111351" cy="782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4400" spc="-1" kern="0" dirty="0">
                <a:solidFill>
                  <a:srgbClr val="F4F1EB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47%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10344685" y="2768600"/>
            <a:ext cx="1333229" cy="2133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F4F1EB">
                    <a:alpha val="40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Reduction in CAC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575958" y="3219450"/>
            <a:ext cx="1078828" cy="782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4400" spc="-1" kern="0" dirty="0">
                <a:solidFill>
                  <a:srgbClr val="F4F1EB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2.8×</a:t>
            </a:r>
            <a:endParaRPr lang="en-US" sz="4400" dirty="0"/>
          </a:p>
        </p:txBody>
      </p:sp>
      <p:sp>
        <p:nvSpPr>
          <p:cNvPr id="13" name="Text 11"/>
          <p:cNvSpPr/>
          <p:nvPr/>
        </p:nvSpPr>
        <p:spPr>
          <a:xfrm>
            <a:off x="10223939" y="3930650"/>
            <a:ext cx="1466049" cy="2133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F4F1EB">
                    <a:alpha val="40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Increase in win rate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627352" y="4381500"/>
            <a:ext cx="1022295" cy="782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4400" spc="-1" kern="0" dirty="0">
                <a:solidFill>
                  <a:srgbClr val="F4F1EB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91%</a:t>
            </a:r>
            <a:endParaRPr lang="en-US" sz="4400" dirty="0"/>
          </a:p>
        </p:txBody>
      </p:sp>
      <p:sp>
        <p:nvSpPr>
          <p:cNvPr id="15" name="Text 13"/>
          <p:cNvSpPr/>
          <p:nvPr/>
        </p:nvSpPr>
        <p:spPr>
          <a:xfrm>
            <a:off x="10170660" y="5092700"/>
            <a:ext cx="1524656" cy="2133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F4F1EB">
                    <a:alpha val="40000"/>
                  </a:srgb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Client retention rate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518604" y="6457950"/>
            <a:ext cx="1352873" cy="1777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1000" spc="1" kern="0" dirty="0">
                <a:solidFill>
                  <a:srgbClr val="F4F1E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REVENUE GROWTH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214212" y="6457950"/>
            <a:ext cx="1268946" cy="1777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1000" spc="1" kern="0" dirty="0">
                <a:solidFill>
                  <a:srgbClr val="1A181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COST EFFICIENCY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257572" y="6457950"/>
            <a:ext cx="3290726" cy="1777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1000" spc="1" kern="0" dirty="0">
                <a:solidFill>
                  <a:srgbClr val="B8B2A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SUSTAINABLE · COMPOUNDING · MEASURABLE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263" cy="6858000"/>
          </a:xfrm>
          <a:prstGeom prst="rect">
            <a:avLst/>
          </a:prstGeom>
          <a:solidFill>
            <a:srgbClr val="C4501A"/>
          </a:solidFill>
          <a:ln/>
        </p:spPr>
      </p:sp>
      <p:sp>
        <p:nvSpPr>
          <p:cNvPr id="3" name="Shape 1"/>
          <p:cNvSpPr/>
          <p:nvPr/>
        </p:nvSpPr>
        <p:spPr>
          <a:xfrm>
            <a:off x="4978276" y="0"/>
            <a:ext cx="507987" cy="6858000"/>
          </a:xfrm>
          <a:prstGeom prst="rect">
            <a:avLst/>
          </a:prstGeom>
          <a:solidFill>
            <a:srgbClr val="1A1815"/>
          </a:solidFill>
          <a:ln/>
        </p:spPr>
      </p:sp>
      <p:sp>
        <p:nvSpPr>
          <p:cNvPr id="4" name="Text 2"/>
          <p:cNvSpPr/>
          <p:nvPr/>
        </p:nvSpPr>
        <p:spPr>
          <a:xfrm>
            <a:off x="634984" y="2738140"/>
            <a:ext cx="2643756" cy="782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4400" spc="-1" kern="0" dirty="0">
                <a:solidFill>
                  <a:srgbClr val="F4F1EB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Let's build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634984" y="3352800"/>
            <a:ext cx="1782549" cy="782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4400" spc="-1" kern="0" dirty="0">
                <a:solidFill>
                  <a:srgbClr val="F4F1EB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what's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2255483" y="3352800"/>
            <a:ext cx="1296995" cy="782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4400" i="1" spc="-1" kern="0" dirty="0">
                <a:solidFill>
                  <a:srgbClr val="1A1815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next.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6375241" y="1787525"/>
            <a:ext cx="1510250" cy="497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2800" spc="0" kern="0" dirty="0">
                <a:solidFill>
                  <a:srgbClr val="1A1815"/>
                </a:solidFill>
                <a:latin typeface="DM Serif Display" pitchFamily="34" charset="0"/>
                <a:ea typeface="DM Serif Display" pitchFamily="34" charset="-122"/>
                <a:cs typeface="DM Serif Display" pitchFamily="34" charset="-120"/>
              </a:rPr>
              <a:t>Meridian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6375241" y="2632075"/>
            <a:ext cx="664977" cy="160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900" spc="1" kern="0" dirty="0">
                <a:solidFill>
                  <a:srgbClr val="8A827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PARTNER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375241" y="2822575"/>
            <a:ext cx="1547139" cy="2844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A181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James Whitfield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375241" y="3292475"/>
            <a:ext cx="457179" cy="160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900" spc="1" kern="0" dirty="0">
                <a:solidFill>
                  <a:srgbClr val="8A827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EMAIL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375241" y="3482975"/>
            <a:ext cx="2240601" cy="2844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A181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j.whitfield@meridian.co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375241" y="3952875"/>
            <a:ext cx="540669" cy="160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900" spc="1" kern="0" dirty="0">
                <a:solidFill>
                  <a:srgbClr val="8A827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DIRECT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375241" y="4143375"/>
            <a:ext cx="1739222" cy="2844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A181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+1 (415) 802-4100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375241" y="4613275"/>
            <a:ext cx="329051" cy="160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900" spc="1" kern="0" dirty="0">
                <a:solidFill>
                  <a:srgbClr val="8A827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WEB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375241" y="4803775"/>
            <a:ext cx="1128922" cy="2844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A181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meridian.co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511466" y="6299200"/>
            <a:ext cx="3349769" cy="160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900" spc="0" kern="0" dirty="0">
                <a:solidFill>
                  <a:srgbClr val="B8B2A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© 2026 MERIDIAN PARTNERS. ALL RIGHTS RESERVED.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2026-03-15T22:56:27Z</dcterms:created>
  <dcterms:modified xsi:type="dcterms:W3CDTF">2026-03-15T22:56:27Z</dcterms:modified>
</cp:coreProperties>
</file>